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365760"/>
            <a:ext cx="8686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B559B"/>
                </a:solidFill>
              </a:defRPr>
            </a:pPr>
            <a:r>
              <a:t>SMART INDIA HACKATHON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875520" y="320040"/>
            <a:ext cx="201168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 b="1">
                <a:solidFill>
                  <a:srgbClr val="102C57"/>
                </a:solidFill>
              </a:defRPr>
            </a:pPr>
            <a:r>
              <a:t>SMART INDIA</a:t>
            </a:r>
            <a:br/>
            <a:r>
              <a:t>HACKATHON</a:t>
            </a:r>
            <a:br/>
            <a:r>
              <a:t>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188720"/>
            <a:ext cx="10362895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200" b="1">
                <a:solidFill>
                  <a:srgbClr val="102C57"/>
                </a:solidFill>
              </a:defRPr>
            </a:pPr>
            <a:r>
              <a:t>TITLE PAGE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011680"/>
            <a:ext cx="106984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b="1" sz="1400">
                <a:solidFill>
                  <a:srgbClr val="102C57"/>
                </a:solidFill>
              </a:rPr>
              <a:t>• Problem Statement ID – </a:t>
            </a:r>
            <a:r>
              <a:rPr sz="1350">
                <a:solidFill>
                  <a:srgbClr val="1E293B"/>
                </a:solidFill>
              </a:rPr>
              <a:t>SIH26032</a:t>
            </a:r>
          </a:p>
          <a:p>
            <a:pPr>
              <a:spcAft>
                <a:spcPts val="800"/>
              </a:spcAft>
            </a:pPr>
            <a:r>
              <a:rPr b="1" sz="1400">
                <a:solidFill>
                  <a:srgbClr val="102C57"/>
                </a:solidFill>
              </a:rPr>
              <a:t>• Ministry / Organization – </a:t>
            </a:r>
            <a:r>
              <a:rPr sz="1350">
                <a:solidFill>
                  <a:srgbClr val="1E293B"/>
                </a:solidFill>
              </a:rPr>
              <a:t>Ministry of Consumer Affairs, Food &amp; Public Distribution</a:t>
            </a:r>
          </a:p>
          <a:p>
            <a:pPr>
              <a:spcAft>
                <a:spcPts val="800"/>
              </a:spcAft>
            </a:pPr>
            <a:r>
              <a:rPr b="1" sz="1400">
                <a:solidFill>
                  <a:srgbClr val="102C57"/>
                </a:solidFill>
              </a:rPr>
              <a:t>• Problem Statement Title – </a:t>
            </a:r>
            <a:r>
              <a:rPr sz="1350">
                <a:solidFill>
                  <a:srgbClr val="1E293B"/>
                </a:solidFill>
              </a:rPr>
              <a:t>Farmers often face long waiting times, lack of information regarding procurement schedules, and uncertainty about procurement status.</a:t>
            </a:r>
          </a:p>
          <a:p>
            <a:pPr>
              <a:spcAft>
                <a:spcPts val="800"/>
              </a:spcAft>
            </a:pPr>
            <a:r>
              <a:rPr b="1" sz="1400">
                <a:solidFill>
                  <a:srgbClr val="102C57"/>
                </a:solidFill>
              </a:rPr>
              <a:t>• Idea / Solution Title – </a:t>
            </a:r>
            <a:r>
              <a:rPr sz="1350">
                <a:solidFill>
                  <a:srgbClr val="1E293B"/>
                </a:solidFill>
              </a:rPr>
              <a:t>AgroPulse — AI-Driven Mandi Queue Orchestration, Dynamic Schedule Booking &amp; Real-Time Procurement Tracker</a:t>
            </a:r>
          </a:p>
          <a:p>
            <a:pPr>
              <a:spcAft>
                <a:spcPts val="800"/>
              </a:spcAft>
            </a:pPr>
            <a:r>
              <a:rPr b="1" sz="1400">
                <a:solidFill>
                  <a:srgbClr val="102C57"/>
                </a:solidFill>
              </a:rPr>
              <a:t>• Theme – </a:t>
            </a:r>
            <a:r>
              <a:rPr sz="1350">
                <a:solidFill>
                  <a:srgbClr val="1E293B"/>
                </a:solidFill>
              </a:rPr>
              <a:t>Heritage &amp; Culture / Agriculture, Food Distribution &amp; Smart Logistics</a:t>
            </a:r>
          </a:p>
          <a:p>
            <a:pPr>
              <a:spcAft>
                <a:spcPts val="800"/>
              </a:spcAft>
            </a:pPr>
            <a:r>
              <a:rPr b="1" sz="1400">
                <a:solidFill>
                  <a:srgbClr val="102C57"/>
                </a:solidFill>
              </a:rPr>
              <a:t>• PS Category – </a:t>
            </a:r>
            <a:r>
              <a:rPr sz="1350">
                <a:solidFill>
                  <a:srgbClr val="1E293B"/>
                </a:solidFill>
              </a:rPr>
              <a:t>Software</a:t>
            </a:r>
          </a:p>
          <a:p>
            <a:pPr>
              <a:spcAft>
                <a:spcPts val="800"/>
              </a:spcAft>
            </a:pPr>
            <a:r>
              <a:rPr b="1" sz="1400">
                <a:solidFill>
                  <a:srgbClr val="102C57"/>
                </a:solidFill>
              </a:rPr>
              <a:t>• Team ID – </a:t>
            </a:r>
            <a:r>
              <a:rPr sz="1350">
                <a:solidFill>
                  <a:srgbClr val="1E293B"/>
                </a:solidFill>
              </a:rPr>
              <a:t>[Your Team ID]</a:t>
            </a:r>
          </a:p>
          <a:p>
            <a:pPr>
              <a:spcAft>
                <a:spcPts val="800"/>
              </a:spcAft>
            </a:pPr>
            <a:r>
              <a:rPr b="1" sz="1400">
                <a:solidFill>
                  <a:srgbClr val="102C57"/>
                </a:solidFill>
              </a:rPr>
              <a:t>• Team Name (Registered on portal) – </a:t>
            </a:r>
            <a:r>
              <a:rPr sz="1350">
                <a:solidFill>
                  <a:srgbClr val="1E293B"/>
                </a:solidFill>
              </a:rPr>
              <a:t>[Your Registered Team Name]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365760" y="320040"/>
            <a:ext cx="1371600" cy="914400"/>
          </a:xfrm>
          <a:prstGeom prst="ellipse">
            <a:avLst/>
          </a:prstGeom>
          <a:solidFill>
            <a:srgbClr val="FFFFFF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>
                <a:solidFill>
                  <a:srgbClr val="1E293B"/>
                </a:solidFill>
              </a:defRPr>
            </a:pPr>
            <a:r>
              <a:t>Your</a:t>
            </a:r>
            <a:br/>
            <a:r>
              <a:t>Team</a:t>
            </a:r>
            <a:br/>
            <a:r>
              <a:t>Name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011680" y="411480"/>
            <a:ext cx="7772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600" b="1">
                <a:solidFill>
                  <a:srgbClr val="102C57"/>
                </a:solidFill>
              </a:defRPr>
            </a:pPr>
            <a:r>
              <a:t>IDEA TITLE: AgroPulse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875520" y="320040"/>
            <a:ext cx="201168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 b="1">
                <a:solidFill>
                  <a:srgbClr val="102C57"/>
                </a:solidFill>
              </a:defRPr>
            </a:pPr>
            <a:r>
              <a:t>SMART INDIA</a:t>
            </a:r>
            <a:br/>
            <a:r>
              <a:t>HACKATHON</a:t>
            </a:r>
            <a:br/>
            <a:r>
              <a:t>2026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263640"/>
            <a:ext cx="12191695" cy="594360"/>
          </a:xfrm>
          <a:prstGeom prst="rect">
            <a:avLst/>
          </a:prstGeom>
          <a:solidFill>
            <a:srgbClr val="1D70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6327648"/>
            <a:ext cx="1072865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FFFFFF"/>
                </a:solidFill>
              </a:defRPr>
            </a:pPr>
            <a:r>
              <a:t>@SIH Idea submission – Template                                                                                                                          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371600"/>
            <a:ext cx="10728655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 b="1">
                <a:solidFill>
                  <a:srgbClr val="1B559B"/>
                </a:solidFill>
              </a:defRPr>
            </a:pPr>
            <a:r>
              <a:t>❖ Proposed Solution (Describe your Idea/Solution/Prototype)</a:t>
            </a:r>
          </a:p>
          <a:p>
            <a:pPr>
              <a:spcAft>
                <a:spcPts val="400"/>
              </a:spcAft>
              <a:defRPr sz="1400" b="1">
                <a:solidFill>
                  <a:srgbClr val="102C57"/>
                </a:solidFill>
              </a:defRPr>
            </a:pPr>
            <a:r>
              <a:t>• Detailed explanation of the proposed solution</a:t>
            </a:r>
          </a:p>
          <a:p>
            <a:pPr>
              <a:spcAft>
                <a:spcPts val="300"/>
              </a:spcAft>
              <a:defRPr sz="1200">
                <a:solidFill>
                  <a:srgbClr val="1E293B"/>
                </a:solidFill>
              </a:defRPr>
            </a:pPr>
            <a:r>
              <a:t>   - AgroPulse is an end-to-end digital procurement platform that introduces Scheduled Time-Slot Booking, Dynamic QR Token E-Passes, and Real-Time Mandi Queue Tracking.</a:t>
            </a:r>
          </a:p>
          <a:p>
            <a:pPr>
              <a:spcAft>
                <a:spcPts val="300"/>
              </a:spcAft>
              <a:defRPr sz="1200">
                <a:solidFill>
                  <a:srgbClr val="1E293B"/>
                </a:solidFill>
              </a:defRPr>
            </a:pPr>
            <a:r>
              <a:t>   - Integrates an AI Fair Price &amp; Quality Valuation Engine that benchmarks mandi arrival rates against Government MSP and regional moisture parameters.</a:t>
            </a:r>
          </a:p>
          <a:p>
            <a:pPr>
              <a:spcAft>
                <a:spcPts val="300"/>
              </a:spcAft>
              <a:defRPr sz="1200">
                <a:solidFill>
                  <a:srgbClr val="1E293B"/>
                </a:solidFill>
              </a:defRPr>
            </a:pPr>
            <a:r>
              <a:t>   - Includes Smart Kisan Freight Pooling for consolidated rural transport, reducing farm-to-mandi logistics expenses by up to 60%.</a:t>
            </a:r>
          </a:p>
          <a:p>
            <a:pPr>
              <a:spcAft>
                <a:spcPts val="400"/>
              </a:spcAft>
              <a:defRPr sz="1400" b="1">
                <a:solidFill>
                  <a:srgbClr val="102C57"/>
                </a:solidFill>
              </a:defRPr>
            </a:pPr>
            <a:r>
              <a:t>• How it addresses the problem (SIH26032)</a:t>
            </a:r>
          </a:p>
          <a:p>
            <a:pPr>
              <a:spcAft>
                <a:spcPts val="300"/>
              </a:spcAft>
              <a:defRPr sz="1200">
                <a:solidFill>
                  <a:srgbClr val="1E293B"/>
                </a:solidFill>
              </a:defRPr>
            </a:pPr>
            <a:r>
              <a:t>   - Eliminates Long Waiting Times: Replaces unannounced mandi rush with pre-booked hourly arrival slots, cutting wait times from 12+ hours to &lt;30 mins.</a:t>
            </a:r>
          </a:p>
          <a:p>
            <a:pPr>
              <a:spcAft>
                <a:spcPts val="300"/>
              </a:spcAft>
              <a:defRPr sz="1200">
                <a:solidFill>
                  <a:srgbClr val="1E293B"/>
                </a:solidFill>
              </a:defRPr>
            </a:pPr>
            <a:r>
              <a:t>   - Delivers Complete Schedule Information: Farmers receive instant SMS/WhatsApp and dashboard notifications with allocated counters, date, and time-windows.</a:t>
            </a:r>
          </a:p>
          <a:p>
            <a:pPr>
              <a:spcAft>
                <a:spcPts val="300"/>
              </a:spcAft>
              <a:defRPr sz="1200">
                <a:solidFill>
                  <a:srgbClr val="1E293B"/>
                </a:solidFill>
              </a:defRPr>
            </a:pPr>
            <a:r>
              <a:t>   - Removes Procurement Uncertainty: Provides live step-by-step tracking (Booked -&gt; Checked-in -&gt; Inspection -&gt; Weighing -&gt; Instant DBT Payout Voucher).</a:t>
            </a:r>
          </a:p>
          <a:p>
            <a:pPr>
              <a:spcAft>
                <a:spcPts val="400"/>
              </a:spcAft>
              <a:defRPr sz="1400" b="1">
                <a:solidFill>
                  <a:srgbClr val="102C57"/>
                </a:solidFill>
              </a:defRPr>
            </a:pPr>
            <a:r>
              <a:t>• Innovation and uniqueness of the solution</a:t>
            </a:r>
          </a:p>
          <a:p>
            <a:pPr>
              <a:spcAft>
                <a:spcPts val="300"/>
              </a:spcAft>
              <a:defRPr sz="1200">
                <a:solidFill>
                  <a:srgbClr val="1E293B"/>
                </a:solidFill>
              </a:defRPr>
            </a:pPr>
            <a:r>
              <a:t>   - Multi-Stage Cryptographic QR Token: Single verifiable pass linking farmgate booking, weighbridge inspection, and Direct Bank DBT settlement.</a:t>
            </a:r>
          </a:p>
          <a:p>
            <a:pPr>
              <a:spcAft>
                <a:spcPts val="300"/>
              </a:spcAft>
              <a:defRPr sz="1200">
                <a:solidFill>
                  <a:srgbClr val="1E293B"/>
                </a:solidFill>
              </a:defRPr>
            </a:pPr>
            <a:r>
              <a:t>   - Proportional Freight Sharing Algorithm: Dynamic fare allocation based on farmer crop weight and pickup corridor distance.</a:t>
            </a:r>
          </a:p>
          <a:p>
            <a:pPr>
              <a:spcAft>
                <a:spcPts val="300"/>
              </a:spcAft>
              <a:defRPr sz="1200">
                <a:solidFill>
                  <a:srgbClr val="1E293B"/>
                </a:solidFill>
              </a:defRPr>
            </a:pPr>
            <a:r>
              <a:t>   - Offline-Tolerant Gate Check-in: Encrypted QR tokens verified locally at mandi gates even during rural internet outages.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365760" y="320040"/>
            <a:ext cx="1371600" cy="914400"/>
          </a:xfrm>
          <a:prstGeom prst="ellipse">
            <a:avLst/>
          </a:prstGeom>
          <a:solidFill>
            <a:srgbClr val="FFFFFF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>
                <a:solidFill>
                  <a:srgbClr val="1E293B"/>
                </a:solidFill>
              </a:defRPr>
            </a:pPr>
            <a:r>
              <a:t>Your</a:t>
            </a:r>
            <a:br/>
            <a:r>
              <a:t>Team</a:t>
            </a:r>
            <a:br/>
            <a:r>
              <a:t>Name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011680" y="411480"/>
            <a:ext cx="7772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600" b="1">
                <a:solidFill>
                  <a:srgbClr val="102C57"/>
                </a:solidFill>
              </a:defRPr>
            </a:pPr>
            <a:r>
              <a:t>TECHNICAL APPROACH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875520" y="320040"/>
            <a:ext cx="201168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 b="1">
                <a:solidFill>
                  <a:srgbClr val="102C57"/>
                </a:solidFill>
              </a:defRPr>
            </a:pPr>
            <a:r>
              <a:t>SMART INDIA</a:t>
            </a:r>
            <a:br/>
            <a:r>
              <a:t>HACKATHON</a:t>
            </a:r>
            <a:br/>
            <a:r>
              <a:t>2026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263640"/>
            <a:ext cx="12191695" cy="594360"/>
          </a:xfrm>
          <a:prstGeom prst="rect">
            <a:avLst/>
          </a:prstGeom>
          <a:solidFill>
            <a:srgbClr val="1D70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6327648"/>
            <a:ext cx="1072865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FFFFFF"/>
                </a:solidFill>
              </a:defRPr>
            </a:pPr>
            <a:r>
              <a:t>@SIH Idea submission – Template                                                                                                                          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280160"/>
            <a:ext cx="10728655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400" b="1">
                <a:solidFill>
                  <a:srgbClr val="102C57"/>
                </a:solidFill>
              </a:defRPr>
            </a:pPr>
            <a:r>
              <a:t>• Technologies to be used (e.g. programming languages, frameworks, hardware)</a:t>
            </a:r>
          </a:p>
          <a:p>
            <a:pPr>
              <a:spcAft>
                <a:spcPts val="200"/>
              </a:spcAft>
              <a:defRPr sz="1150">
                <a:solidFill>
                  <a:srgbClr val="1E293B"/>
                </a:solidFill>
              </a:defRPr>
            </a:pPr>
            <a:r>
              <a:t>   - Programming Languages &amp; Frameworks: Python (FastAPI backend), React 18 (Vite SPA frontend), Tailwind CSS.</a:t>
            </a:r>
          </a:p>
          <a:p>
            <a:pPr>
              <a:spcAft>
                <a:spcPts val="200"/>
              </a:spcAft>
              <a:defRPr sz="1150">
                <a:solidFill>
                  <a:srgbClr val="1E293B"/>
                </a:solidFill>
              </a:defRPr>
            </a:pPr>
            <a:r>
              <a:t>   - Database &amp; Data Layer: SQLAlchemy ORM with SQLite / PostgreSQL, Pydantic Schema Data Integrity.</a:t>
            </a:r>
          </a:p>
          <a:p>
            <a:pPr>
              <a:spcAft>
                <a:spcPts val="200"/>
              </a:spcAft>
              <a:defRPr sz="1150">
                <a:solidFill>
                  <a:srgbClr val="1E293B"/>
                </a:solidFill>
              </a:defRPr>
            </a:pPr>
            <a:r>
              <a:t>   - AI &amp; Algorithmic Modules: Scikit-Learn (Price Valuation Regression), M/M/c Stochastic Queue Waiting Predictor, Haversine Routing Optimizer.</a:t>
            </a:r>
          </a:p>
          <a:p>
            <a:pPr>
              <a:spcAft>
                <a:spcPts val="200"/>
              </a:spcAft>
              <a:defRPr sz="1150">
                <a:solidFill>
                  <a:srgbClr val="1E293B"/>
                </a:solidFill>
              </a:defRPr>
            </a:pPr>
            <a:r>
              <a:t>   - Hardware &amp; System Requirements: Zero proprietary hardware; compatible with standard Mandi Weighbridge PCs, CCTV/Barcode scanners, and Android smartphones.</a:t>
            </a:r>
          </a:p>
          <a:p>
            <a:pPr>
              <a:spcBef>
                <a:spcPts val="600"/>
              </a:spcBef>
              <a:defRPr sz="1400" b="1">
                <a:solidFill>
                  <a:srgbClr val="102C57"/>
                </a:solidFill>
              </a:defRPr>
            </a:pPr>
            <a:r>
              <a:t>• Methodology and process for implementation (Flow Charts / Images / working prototype)</a:t>
            </a:r>
          </a:p>
        </p:txBody>
      </p:sp>
      <p:pic>
        <p:nvPicPr>
          <p:cNvPr id="9" name="Picture 8" descr="flowchart_sih_ligh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3429000"/>
            <a:ext cx="10728655" cy="3197964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365760" y="320040"/>
            <a:ext cx="1371600" cy="914400"/>
          </a:xfrm>
          <a:prstGeom prst="ellipse">
            <a:avLst/>
          </a:prstGeom>
          <a:solidFill>
            <a:srgbClr val="FFFFFF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>
                <a:solidFill>
                  <a:srgbClr val="1E293B"/>
                </a:solidFill>
              </a:defRPr>
            </a:pPr>
            <a:r>
              <a:t>Your</a:t>
            </a:r>
            <a:br/>
            <a:r>
              <a:t>Team</a:t>
            </a:r>
            <a:br/>
            <a:r>
              <a:t>Name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011680" y="411480"/>
            <a:ext cx="7772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600" b="1">
                <a:solidFill>
                  <a:srgbClr val="102C57"/>
                </a:solidFill>
              </a:defRPr>
            </a:pPr>
            <a:r>
              <a:t>FEASIBILITY AND VIABILITY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875520" y="320040"/>
            <a:ext cx="201168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 b="1">
                <a:solidFill>
                  <a:srgbClr val="102C57"/>
                </a:solidFill>
              </a:defRPr>
            </a:pPr>
            <a:r>
              <a:t>SMART INDIA</a:t>
            </a:r>
            <a:br/>
            <a:r>
              <a:t>HACKATHON</a:t>
            </a:r>
            <a:br/>
            <a:r>
              <a:t>2026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263640"/>
            <a:ext cx="12191695" cy="594360"/>
          </a:xfrm>
          <a:prstGeom prst="rect">
            <a:avLst/>
          </a:prstGeom>
          <a:solidFill>
            <a:srgbClr val="1D70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6327648"/>
            <a:ext cx="1072865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FFFFFF"/>
                </a:solidFill>
              </a:defRPr>
            </a:pPr>
            <a:r>
              <a:t>@SIH Idea submission – Template                                                                                                                          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280160"/>
            <a:ext cx="10728655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400" b="1">
                <a:solidFill>
                  <a:srgbClr val="102C57"/>
                </a:solidFill>
              </a:defRPr>
            </a:pPr>
            <a:r>
              <a:t>• Analysis of the feasibility of the idea</a:t>
            </a:r>
          </a:p>
          <a:p>
            <a:pPr>
              <a:spcAft>
                <a:spcPts val="300"/>
              </a:spcAft>
              <a:defRPr sz="1200">
                <a:solidFill>
                  <a:srgbClr val="1E293B"/>
                </a:solidFill>
              </a:defRPr>
            </a:pPr>
            <a:r>
              <a:t>   - Technical Feasibility: High — Lightweight RESTful microservice architecture tested with rapid response times (&lt;100ms) and low bandwidth overhead.</a:t>
            </a:r>
          </a:p>
          <a:p>
            <a:pPr>
              <a:spcAft>
                <a:spcPts val="300"/>
              </a:spcAft>
              <a:defRPr sz="1200">
                <a:solidFill>
                  <a:srgbClr val="1E293B"/>
                </a:solidFill>
              </a:defRPr>
            </a:pPr>
            <a:r>
              <a:t>   - Operational Feasibility: Smooth onboarding with minimal learning curve; mandi inspectors use intuitive web scan consoles without modifying existing weigh scales.</a:t>
            </a:r>
          </a:p>
          <a:p>
            <a:pPr>
              <a:spcAft>
                <a:spcPts val="300"/>
              </a:spcAft>
              <a:defRPr sz="1200">
                <a:solidFill>
                  <a:srgbClr val="1E293B"/>
                </a:solidFill>
              </a:defRPr>
            </a:pPr>
            <a:r>
              <a:t>   - Economic Viability: Highly viable with near-zero CAPEX, monetizable/sustainable through nominal transaction audit fees and logistics optimization savings.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400" b="1">
                <a:solidFill>
                  <a:srgbClr val="102C57"/>
                </a:solidFill>
              </a:defRPr>
            </a:pPr>
            <a:r>
              <a:t>• Potential challenges and risks</a:t>
            </a:r>
          </a:p>
          <a:p>
            <a:pPr>
              <a:spcAft>
                <a:spcPts val="300"/>
              </a:spcAft>
              <a:defRPr sz="1200">
                <a:solidFill>
                  <a:srgbClr val="1E293B"/>
                </a:solidFill>
              </a:defRPr>
            </a:pPr>
            <a:r>
              <a:t>   - Intermittent Internet Connectivity: Potential connectivity drops in rural mandi locations during peak procurement season.</a:t>
            </a:r>
          </a:p>
          <a:p>
            <a:pPr>
              <a:spcAft>
                <a:spcPts val="300"/>
              </a:spcAft>
              <a:defRPr sz="1200">
                <a:solidFill>
                  <a:srgbClr val="1E293B"/>
                </a:solidFill>
              </a:defRPr>
            </a:pPr>
            <a:r>
              <a:t>   - Farmer Digital Literacy: Hesitancy among elder or smallholder farmers with mobile application interfaces.</a:t>
            </a:r>
          </a:p>
          <a:p>
            <a:pPr>
              <a:spcAft>
                <a:spcPts val="300"/>
              </a:spcAft>
              <a:defRPr sz="1200">
                <a:solidFill>
                  <a:srgbClr val="1E293B"/>
                </a:solidFill>
              </a:defRPr>
            </a:pPr>
            <a:r>
              <a:t>   - Surge Arrival Peaks: Vehicles arriving outside their booked time windows causing temporary queue variations.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400" b="1">
                <a:solidFill>
                  <a:srgbClr val="102C57"/>
                </a:solidFill>
              </a:defRPr>
            </a:pPr>
            <a:r>
              <a:t>• Strategies for overcoming these challenges</a:t>
            </a:r>
          </a:p>
          <a:p>
            <a:pPr>
              <a:spcAft>
                <a:spcPts val="300"/>
              </a:spcAft>
              <a:defRPr sz="1200">
                <a:solidFill>
                  <a:srgbClr val="1E293B"/>
                </a:solidFill>
              </a:defRPr>
            </a:pPr>
            <a:r>
              <a:t>   - Offline Cryptographic Validation: QR passes store self-contained digital signatures, allowing gate verification without active internet connection.</a:t>
            </a:r>
          </a:p>
          <a:p>
            <a:pPr>
              <a:spcAft>
                <a:spcPts val="300"/>
              </a:spcAft>
              <a:defRPr sz="1200">
                <a:solidFill>
                  <a:srgbClr val="1E293B"/>
                </a:solidFill>
              </a:defRPr>
            </a:pPr>
            <a:r>
              <a:t>   - Multilingual Voice &amp; SMS IVR: Automated slot updates, arrival reminders, and payment receipts dispatched via regional SMS and WhatsApp.</a:t>
            </a:r>
          </a:p>
          <a:p>
            <a:pPr>
              <a:spcAft>
                <a:spcPts val="300"/>
              </a:spcAft>
              <a:defRPr sz="1200">
                <a:solidFill>
                  <a:srgbClr val="1E293B"/>
                </a:solidFill>
              </a:defRPr>
            </a:pPr>
            <a:r>
              <a:t>   - Dynamic Buffer Management: Intelligent 30-minute grace arrival periods and automated counter workload re-routing.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365760" y="320040"/>
            <a:ext cx="1371600" cy="914400"/>
          </a:xfrm>
          <a:prstGeom prst="ellipse">
            <a:avLst/>
          </a:prstGeom>
          <a:solidFill>
            <a:srgbClr val="FFFFFF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>
                <a:solidFill>
                  <a:srgbClr val="1E293B"/>
                </a:solidFill>
              </a:defRPr>
            </a:pPr>
            <a:r>
              <a:t>Your</a:t>
            </a:r>
            <a:br/>
            <a:r>
              <a:t>Team</a:t>
            </a:r>
            <a:br/>
            <a:r>
              <a:t>Name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011680" y="411480"/>
            <a:ext cx="7772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600" b="1">
                <a:solidFill>
                  <a:srgbClr val="102C57"/>
                </a:solidFill>
              </a:defRPr>
            </a:pPr>
            <a:r>
              <a:t>IMPACT AND BENEFITS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875520" y="320040"/>
            <a:ext cx="201168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 b="1">
                <a:solidFill>
                  <a:srgbClr val="102C57"/>
                </a:solidFill>
              </a:defRPr>
            </a:pPr>
            <a:r>
              <a:t>SMART INDIA</a:t>
            </a:r>
            <a:br/>
            <a:r>
              <a:t>HACKATHON</a:t>
            </a:r>
            <a:br/>
            <a:r>
              <a:t>2026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263640"/>
            <a:ext cx="12191695" cy="594360"/>
          </a:xfrm>
          <a:prstGeom prst="rect">
            <a:avLst/>
          </a:prstGeom>
          <a:solidFill>
            <a:srgbClr val="1D70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6327648"/>
            <a:ext cx="1072865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FFFFFF"/>
                </a:solidFill>
              </a:defRPr>
            </a:pPr>
            <a:r>
              <a:t>@SIH Idea submission – Template                                                                                                                          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280160"/>
            <a:ext cx="10728655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400" b="1">
                <a:solidFill>
                  <a:srgbClr val="102C57"/>
                </a:solidFill>
              </a:defRPr>
            </a:pPr>
            <a:r>
              <a:t>• Potential impact on the target audience</a:t>
            </a:r>
          </a:p>
          <a:p>
            <a:pPr>
              <a:spcAft>
                <a:spcPts val="300"/>
              </a:spcAft>
              <a:defRPr sz="1200">
                <a:solidFill>
                  <a:srgbClr val="1E293B"/>
                </a:solidFill>
              </a:defRPr>
            </a:pPr>
            <a:r>
              <a:t>   - Smallholder &amp; Marginal Farmers: Complete transparency in procurement schedules, elimination of 12+ hour overnight waiting, and guaranteed fair pricing without distress sales.</a:t>
            </a:r>
          </a:p>
          <a:p>
            <a:pPr>
              <a:spcAft>
                <a:spcPts val="300"/>
              </a:spcAft>
              <a:defRPr sz="1200">
                <a:solidFill>
                  <a:srgbClr val="1E293B"/>
                </a:solidFill>
              </a:defRPr>
            </a:pPr>
            <a:r>
              <a:t>   - Mandi / APMC Authorities &amp; Food Corporations: 40% higher daily weighbridge throughput, zero traffic gridlocks on highway access roads, and seamless digitized procurement auditing.</a:t>
            </a:r>
          </a:p>
          <a:p>
            <a:pPr>
              <a:spcAft>
                <a:spcPts val="300"/>
              </a:spcAft>
              <a:defRPr sz="1200">
                <a:solidFill>
                  <a:srgbClr val="1E293B"/>
                </a:solidFill>
              </a:defRPr>
            </a:pPr>
            <a:r>
              <a:t>   - Transporters &amp; Vehicle Providers: Predictable multi-stop cargo pickup routing and maximized truck capacity utilization.</a:t>
            </a:r>
          </a:p>
          <a:p>
            <a:pPr>
              <a:spcBef>
                <a:spcPts val="1000"/>
              </a:spcBef>
              <a:spcAft>
                <a:spcPts val="400"/>
              </a:spcAft>
              <a:defRPr sz="1400" b="1">
                <a:solidFill>
                  <a:srgbClr val="102C57"/>
                </a:solidFill>
              </a:defRPr>
            </a:pPr>
            <a:r>
              <a:t>• Benefits of the solution (social, economic, environmental, etc.)</a:t>
            </a:r>
          </a:p>
          <a:p>
            <a:pPr>
              <a:spcAft>
                <a:spcPts val="300"/>
              </a:spcAft>
              <a:defRPr sz="1200">
                <a:solidFill>
                  <a:srgbClr val="1E293B"/>
                </a:solidFill>
              </a:defRPr>
            </a:pPr>
            <a:r>
              <a:t>   - Economic Benefits: Up to 60% savings on farmgate transport; 100% price realization under MSP; instant DBT settlement vouchers preventing delayed payment distress.</a:t>
            </a:r>
          </a:p>
          <a:p>
            <a:pPr>
              <a:spcAft>
                <a:spcPts val="300"/>
              </a:spcAft>
              <a:defRPr sz="1200">
                <a:solidFill>
                  <a:srgbClr val="1E293B"/>
                </a:solidFill>
              </a:defRPr>
            </a:pPr>
            <a:r>
              <a:t>   - Social Benefits: Eliminates hazardous physical waiting on highway roads; promotes digital equity for rural farmers; boosts trust in government procurement centers.</a:t>
            </a:r>
          </a:p>
          <a:p>
            <a:pPr>
              <a:spcAft>
                <a:spcPts val="300"/>
              </a:spcAft>
              <a:defRPr sz="1200">
                <a:solidFill>
                  <a:srgbClr val="1E293B"/>
                </a:solidFill>
              </a:defRPr>
            </a:pPr>
            <a:r>
              <a:t>   - Environmental Benefits: 48.5% reduction in vehicular carbon emissions (CO2) through shared vehicle pooling; significant reduction in perishable produce decay and post-harvest wastage.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365760" y="320040"/>
            <a:ext cx="1371600" cy="914400"/>
          </a:xfrm>
          <a:prstGeom prst="ellipse">
            <a:avLst/>
          </a:prstGeom>
          <a:solidFill>
            <a:srgbClr val="FFFFFF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>
                <a:solidFill>
                  <a:srgbClr val="1E293B"/>
                </a:solidFill>
              </a:defRPr>
            </a:pPr>
            <a:r>
              <a:t>Your</a:t>
            </a:r>
            <a:br/>
            <a:r>
              <a:t>Team</a:t>
            </a:r>
            <a:br/>
            <a:r>
              <a:t>Name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011680" y="411480"/>
            <a:ext cx="7772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600" b="1">
                <a:solidFill>
                  <a:srgbClr val="102C57"/>
                </a:solidFill>
              </a:defRPr>
            </a:pPr>
            <a:r>
              <a:t>RESEARCH AND REFERENCES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875520" y="320040"/>
            <a:ext cx="201168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 b="1">
                <a:solidFill>
                  <a:srgbClr val="102C57"/>
                </a:solidFill>
              </a:defRPr>
            </a:pPr>
            <a:r>
              <a:t>SMART INDIA</a:t>
            </a:r>
            <a:br/>
            <a:r>
              <a:t>HACKATHON</a:t>
            </a:r>
            <a:br/>
            <a:r>
              <a:t>2026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263640"/>
            <a:ext cx="12191695" cy="594360"/>
          </a:xfrm>
          <a:prstGeom prst="rect">
            <a:avLst/>
          </a:prstGeom>
          <a:solidFill>
            <a:srgbClr val="1D70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6327648"/>
            <a:ext cx="1072865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FFFFFF"/>
                </a:solidFill>
              </a:defRPr>
            </a:pPr>
            <a:r>
              <a:t>@SIH Idea submission – Template                                                                                                                          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280160"/>
            <a:ext cx="10728655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400" b="1">
                <a:solidFill>
                  <a:srgbClr val="102C57"/>
                </a:solidFill>
              </a:defRPr>
            </a:pPr>
            <a:r>
              <a:t>• Details / Links of the reference and research work</a:t>
            </a:r>
          </a:p>
          <a:p>
            <a:pPr>
              <a:spcAft>
                <a:spcPts val="600"/>
              </a:spcAft>
              <a:defRPr sz="1200">
                <a:solidFill>
                  <a:srgbClr val="1E293B"/>
                </a:solidFill>
              </a:defRPr>
            </a:pPr>
            <a:r>
              <a:t>   - Ministry of Consumer Affairs, Food &amp; Public Distribution (GoI): 'Digital Procurement Guidelines &amp; Farmer Queue Management in Mandis'.</a:t>
            </a:r>
          </a:p>
          <a:p>
            <a:pPr>
              <a:spcAft>
                <a:spcPts val="600"/>
              </a:spcAft>
              <a:defRPr sz="1200">
                <a:solidFill>
                  <a:srgbClr val="1E293B"/>
                </a:solidFill>
              </a:defRPr>
            </a:pPr>
            <a:r>
              <a:t>   - National Agriculture Market (e-NAM): Standard Operating Procedures (SOP) for Electronic Quality Assay, Gate Entry Protocol, and Online Payment Settlements.</a:t>
            </a:r>
          </a:p>
          <a:p>
            <a:pPr>
              <a:spcAft>
                <a:spcPts val="600"/>
              </a:spcAft>
              <a:defRPr sz="1200">
                <a:solidFill>
                  <a:srgbClr val="1E293B"/>
                </a:solidFill>
              </a:defRPr>
            </a:pPr>
            <a:r>
              <a:t>   - Committee on Doubling Farmers' Income (DFI), Vol. VIII: 'Post-Production Agricultural Logistics, Rural Milk-Run Consolidation &amp; Mandi Modernization'.</a:t>
            </a:r>
          </a:p>
          <a:p>
            <a:pPr>
              <a:spcAft>
                <a:spcPts val="600"/>
              </a:spcAft>
              <a:defRPr sz="1200">
                <a:solidFill>
                  <a:srgbClr val="1E293B"/>
                </a:solidFill>
              </a:defRPr>
            </a:pPr>
            <a:r>
              <a:t>   - NITI Aayog Policy Framework (2021): 'Transforming Agricultural Marketing &amp; Public Procurement through Digital Technology Linkages'.</a:t>
            </a:r>
          </a:p>
          <a:p>
            <a:pPr>
              <a:spcAft>
                <a:spcPts val="600"/>
              </a:spcAft>
              <a:defRPr sz="1200">
                <a:solidFill>
                  <a:srgbClr val="1E293B"/>
                </a:solidFill>
              </a:defRPr>
            </a:pPr>
            <a:r>
              <a:t>   - Agmarknet &amp; CACP (Commission for Agricultural Costs and Prices): Mandi Arrival Time-Series Datasets and Variety-wise Minimum Support Price (MSP) Formulas.</a:t>
            </a:r>
          </a:p>
          <a:p>
            <a:pPr>
              <a:spcAft>
                <a:spcPts val="600"/>
              </a:spcAft>
              <a:defRPr sz="1200">
                <a:solidFill>
                  <a:srgbClr val="1E293B"/>
                </a:solidFill>
              </a:defRPr>
            </a:pPr>
            <a:r>
              <a:t>   - Transportation Research Part E: 'Stochastic M/M/c Queueing Models for Agricultural Procurement Centers &amp; Proportional Cost Allocation Algorithms'.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